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9" Type="http://schemas.openxmlformats.org/officeDocument/2006/relationships/viewProps" Target="viewProps.xml" /><Relationship Id="rId1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1" Type="http://schemas.openxmlformats.org/officeDocument/2006/relationships/tableStyles" Target="tableStyles.xml" /><Relationship Id="rId20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多视角无标记动作重定向与人形机器人全身控制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汇报人：谭为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2026年10月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任务定义与全链路五阶段系统架构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核心任务与设计原则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核心目标</a:t>
            </a:r>
            <a:r>
              <a:rPr/>
              <a:t>：四相机无标记视频直接驱动宇树 G1 (29自由度) 全身闭环动作跟踪。</a:t>
            </a:r>
          </a:p>
          <a:p>
            <a:pPr lvl="0"/>
            <a:r>
              <a:rPr b="1"/>
              <a:t>实验红线</a:t>
            </a:r>
            <a:r>
              <a:rPr/>
              <a:t>：无反光球/IMU，步态完全由骨盆与腿部运动驱动，严禁速度步态触发。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全链路五阶段处理流水线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 Placeholder 3"/>
              <p:cNvSpPr>
                <a:spLocks noGrp="1"/>
              </p:cNvSpPr>
              <p:nvPr>
                <p:ph idx="2" sz="half" type="body"/>
              </p:nvPr>
            </p:nvSpPr>
            <p:spPr/>
            <p:txBody>
              <a:bodyPr/>
              <a:lstStyle/>
              <a:p>
                <a:pPr lvl="0"/>
                <a:r>
                  <a:rPr b="1"/>
                  <a:t>阶段一·无标记感知 (25Hz)</a:t>
                </a:r>
                <a:r>
                  <a:rPr/>
                  <a:t>：4路同步视频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YOLO 检测 + 23 关键点（含 6 个足底触地点）。</a:t>
                </a:r>
              </a:p>
              <a:p>
                <a:pPr lvl="0"/>
                <a:r>
                  <a:rPr b="1"/>
                  <a:t>阶段二·三角化与滤波 (25Hz)</a:t>
                </a:r>
                <a:r>
                  <a:rPr/>
                  <a:t>：加权 SVD 三角化 + 离群抑制 + 因果骨长约束滤波。</a:t>
                </a:r>
              </a:p>
              <a:p>
                <a:pPr lvl="0"/>
                <a:r>
                  <a:rPr b="1"/>
                  <a:t>阶段三·奇异壁垒重定向 (25Hz)</a:t>
                </a:r>
                <a:r>
                  <a:rPr/>
                  <a:t>：人机比例缩放 + 骨盆驱动步态 + 肩肘奇异软壁垒防翻转。</a:t>
                </a:r>
              </a:p>
              <a:p>
                <a:pPr lvl="0"/>
                <a:r>
                  <a:rPr b="1"/>
                  <a:t>阶段四·单调柔化轨迹 (50Hz)</a:t>
                </a:r>
                <a:r>
                  <a:rPr/>
                  <a:t>：单调同向阻尼速度 + 换向极值归零 + 跃度硬截断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≤</m:t>
                    </m:r>
                    <m:r>
                      <m:t>1500</m:t>
                    </m:r>
                    <m:sSup>
                      <m:e>
                        <m:r>
                          <m:rPr>
                            <m:nor/>
                            <m:sty m:val="p"/>
                          </m:rPr>
                          <m:t> rad/s</m:t>
                        </m:r>
                      </m:e>
                      <m:sup>
                        <m:r>
                          <m:t>3</m:t>
                        </m:r>
                      </m:sup>
                    </m:sSup>
                  </m:oMath>
                </a14:m>
                <a:r>
                  <a:rPr/>
                  <a:t>)。</a:t>
                </a:r>
              </a:p>
              <a:p>
                <a:pPr lvl="0"/>
                <a:r>
                  <a:rPr b="1"/>
                  <a:t>阶段五·SONIC 全身闭环 (1000Hz)</a:t>
                </a:r>
                <a:r>
                  <a:rPr/>
                  <a:t>：实时因果策略 + 1000Hz 伺服力矩，物理自稳与跟踪。</a:t>
                </a:r>
              </a:p>
            </p:txBody>
          </p:sp>
        </mc:Choice>
      </mc:AlternateContent>
      <p:pic>
        <p:nvPicPr>
          <p:cNvPr descr="figures/exec_fig1_pipelin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651000"/>
            <a:ext cx="5105400" cy="1473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核心创新一：奇异壁垒连续运动学重定向（前端）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几何空间映射与下肢真实驱动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骨盆位姿提取</a:t>
            </a:r>
            <a:r>
              <a:rPr/>
              <a:t>：以人体髋部建立正交基底，解算世界坐标系横滚、俯仰与偏航角。</a:t>
            </a:r>
          </a:p>
          <a:p>
            <a:pPr lvl="0"/>
            <a:r>
              <a:rPr b="1"/>
              <a:t>等比例尺寸缩放</a:t>
            </a:r>
            <a:r>
              <a:rPr/>
              <a:t>：按下肢长度比例严格缩放骨盆水平位移与垂直下蹲高度，拒绝速度步态欺骗。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肩肘奇异区软壁垒机制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 b="1"/>
                  <a:t>传统 IK 痛点</a:t>
                </a:r>
                <a:r>
                  <a:rPr/>
                  <a:t>：球面肩关节在大角度挥臂伴随转身时穿过万向节死锁临界区，产生分支跳变导致机械臂向后翻折 180°。</a:t>
                </a:r>
              </a:p>
              <a:p>
                <a:pPr lvl="0"/>
                <a:r>
                  <a:rPr b="1"/>
                  <a:t>软壁垒与连续性优化</a:t>
                </a:r>
                <a:r>
                  <a:rPr/>
                  <a:t>：</a:t>
                </a:r>
              </a:p>
              <a:p>
                <a:pPr lvl="0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limLow>
                        <m:e>
                          <m:r>
                            <m:rPr>
                              <m:sty m:val="p"/>
                            </m:rPr>
                            <m:t>min</m:t>
                          </m:r>
                        </m:e>
                        <m:lim>
                          <m:r>
                            <m:t>q</m:t>
                          </m:r>
                        </m:lim>
                      </m:limLow>
                      <m:r>
                        <m:t> </m:t>
                      </m:r>
                      <m:sSub>
                        <m:e>
                          <m:r>
                            <m:rPr>
                              <m:scr m:val="script"/>
                              <m:sty m:val="p"/>
                            </m:rPr>
                            <m:t>L</m:t>
                          </m:r>
                        </m:e>
                        <m:sub>
                          <m:r>
                            <m:rPr>
                              <m:nor/>
                              <m:sty m:val="p"/>
                            </m:rPr>
                            <m:t>dir</m:t>
                          </m:r>
                        </m:sub>
                      </m:sSub>
                      <m:r>
                        <m:rPr>
                          <m:sty m:val="p"/>
                        </m:rPr>
                        <m:t>(</m:t>
                      </m:r>
                      <m:r>
                        <m:t>q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λ</m:t>
                          </m:r>
                        </m:e>
                        <m:sub>
                          <m:r>
                            <m:rPr>
                              <m:nor/>
                              <m:sty m:val="p"/>
                            </m:rPr>
                            <m:t>smooth</m:t>
                          </m:r>
                        </m:sub>
                      </m:sSub>
                      <m:r>
                        <m:rPr>
                          <m:sty m:val="p"/>
                        </m:rPr>
                        <m:t>∥</m:t>
                      </m:r>
                      <m:r>
                        <m:t>q</m:t>
                      </m:r>
                      <m:r>
                        <m:rPr>
                          <m:sty m:val="p"/>
                        </m:rPr>
                        <m:t>−</m:t>
                      </m:r>
                      <m:sSub>
                        <m:e>
                          <m:r>
                            <m:t>q</m:t>
                          </m:r>
                        </m:e>
                        <m:sub>
                          <m:r>
                            <m:t>t</m:t>
                          </m:r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1</m:t>
                          </m:r>
                        </m:sub>
                      </m:sSub>
                      <m:sSup>
                        <m:e>
                          <m:r>
                            <m:rPr>
                              <m:sty m:val="p"/>
                            </m:rPr>
                            <m:t>∥</m:t>
                          </m:r>
                        </m:e>
                        <m:sup>
                          <m: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m:t>+</m:t>
                      </m:r>
                      <m:nary>
                        <m:naryPr>
                          <m:chr m:val="∑"/>
                          <m:limLoc m:val="undOvr"/>
                          <m:subHide m:val="off"/>
                          <m:supHide m:val="on"/>
                        </m:naryPr>
                        <m:sub>
                          <m:r>
                            <m:t>j</m:t>
                          </m:r>
                        </m:sub>
                        <m:sup>
                          <m:r>
                            <m:t>​</m:t>
                          </m:r>
                        </m:sup>
                        <m:e>
                          <m:f>
                            <m:fPr>
                              <m:type m:val="bar"/>
                            </m:fPr>
                            <m:num>
                              <m:r>
                                <m:t>μ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m:t>max</m:t>
                              </m:r>
                              <m:r>
                                <m:rPr>
                                  <m:sty m:val="p"/>
                                </m:rPr>
                                <m:t>(</m:t>
                              </m:r>
                              <m:r>
                                <m:t>0</m:t>
                              </m:r>
                              <m:r>
                                <m:rPr>
                                  <m:sty m:val="p"/>
                                </m:rPr>
                                <m:t>,</m:t>
                              </m:r>
                              <m:r>
                                <m:rPr>
                                  <m:nor/>
                                  <m:sty m:val="p"/>
                                </m:rPr>
                                <m:t>dist</m:t>
                              </m:r>
                              <m:r>
                                <m:rPr>
                                  <m:sty m:val="p"/>
                                </m:rPr>
                                <m:t>(</m:t>
                              </m:r>
                              <m:sSub>
                                <m:e>
                                  <m:r>
                                    <m:t>q</m:t>
                                  </m:r>
                                </m:e>
                                <m:sub>
                                  <m:r>
                                    <m:t>j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m:t>,</m:t>
                              </m:r>
                              <m:r>
                                <m:rPr>
                                  <m:sty m:val="p"/>
                                </m:rPr>
                                <m:t>∂</m:t>
                              </m:r>
                              <m:sSub>
                                <m:e>
                                  <m:r>
                                    <m:rPr>
                                      <m:sty m:val="p"/>
                                    </m:rPr>
                                    <m:t>Ω</m:t>
                                  </m:r>
                                </m:e>
                                <m:sub>
                                  <m:r>
                                    <m:rPr>
                                      <m:nor/>
                                      <m:sty m:val="p"/>
                                    </m:rPr>
                                    <m:t>sing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m:t>)</m:t>
                              </m:r>
                              <m:sSup>
                                <m:e>
                                  <m:r>
                                    <m:rPr>
                                      <m:sty m:val="p"/>
                                    </m:rPr>
                                    <m:t>)</m:t>
                                  </m:r>
                                </m:e>
                                <m:sup>
                                  <m: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m:t>+</m:t>
                              </m:r>
                              <m:r>
                                <m:t>ϵ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</a:p>
              <a:p>
                <a:pPr lvl="0"/>
                <a:r>
                  <a:rPr b="1"/>
                  <a:t>实测效果</a:t>
                </a:r>
                <a:r>
                  <a:rPr/>
                  <a:t>：强迫逆解在有效解剖空间内连续平滑绕行，150帧行走转身极限测试中，上肢大偏差帧数由 38 降至 6，彻底杜绝翻折。</a:t>
                </a:r>
              </a:p>
            </p:txBody>
          </p:sp>
        </mc:Choice>
      </mc:AlternateContent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核心创新二：单调门控柔化二阶连续轨迹生成（后端）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跨频平滑控制的工程困境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 b="1"/>
                  <a:t>频率桥接</a:t>
                </a:r>
                <a:r>
                  <a:rPr/>
                  <a:t>：将视觉 25Hz 离散关键帧提升至底层平衡控制器所需的 50Hz </a:t>
                </a:r>
                <a14:m>
                  <m:oMath xmlns:m="http://schemas.openxmlformats.org/officeDocument/2006/math">
                    <m:sSup>
                      <m:e>
                        <m:r>
                          <m:t>C</m:t>
                        </m:r>
                      </m:e>
                      <m:sup>
                        <m:r>
                          <m:t>2</m:t>
                        </m:r>
                      </m:sup>
                    </m:sSup>
                  </m:oMath>
                </a14:m>
                <a:r>
                  <a:rPr/>
                  <a:t>（位姿、速度、加速度连续）控制流。</a:t>
                </a:r>
              </a:p>
              <a:p>
                <a:pPr lvl="0"/>
                <a:r>
                  <a:rPr b="1"/>
                  <a:t>传统方案的两难抉择</a:t>
                </a:r>
                <a:r>
                  <a:rPr/>
                  <a:t>：</a:t>
                </a:r>
              </a:p>
              <a:p>
                <a:pPr lvl="1"/>
                <a:r>
                  <a:rPr i="1"/>
                  <a:t>传统 Stop-and-go（零速度边界）</a:t>
                </a:r>
                <a:r>
                  <a:rPr/>
                  <a:t>：跨帧频繁减速制动，深蹲严重衰减（只能蹲到 0.55m，目标 0.485m）；</a:t>
                </a:r>
              </a:p>
              <a:p>
                <a:pPr lvl="1"/>
                <a:r>
                  <a:rPr i="1"/>
                  <a:t>传统三次自然样条</a:t>
                </a:r>
                <a:r>
                  <a:rPr/>
                  <a:t>：拐点产生显著超调与加速度阶跃，机器人在下蹲波谷因反冲力晃动摔倒。</a:t>
                </a:r>
              </a:p>
            </p:txBody>
          </p:sp>
        </mc:Choice>
      </mc:AlternateContent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单调门控与低跃度样条破局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 b="1"/>
                  <a:t>单调同向阻尼速度门控</a:t>
                </a:r>
                <a:r>
                  <a:rPr/>
                  <a:t>：</a:t>
                </a:r>
              </a:p>
              <a:p>
                <a:pPr lvl="1"/>
                <a:r>
                  <a:rPr/>
                  <a:t>同向运动段（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Δ</m:t>
                    </m:r>
                    <m:sSub>
                      <m:e>
                        <m:r>
                          <m:t>q</m:t>
                        </m:r>
                      </m:e>
                      <m:sub>
                        <m:r>
                          <m:t>k</m:t>
                        </m:r>
                      </m:sub>
                    </m:sSub>
                    <m:r>
                      <m:rPr>
                        <m:sty m:val="p"/>
                      </m:rPr>
                      <m:t>⋅</m:t>
                    </m:r>
                    <m:r>
                      <m:rPr>
                        <m:sty m:val="p"/>
                      </m:rPr>
                      <m:t>Δ</m:t>
                    </m:r>
                    <m:sSub>
                      <m:e>
                        <m:r>
                          <m:t>q</m:t>
                        </m:r>
                      </m:e>
                      <m:sub>
                        <m:r>
                          <m:t>k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m:t>&gt;</m:t>
                    </m:r>
                    <m:r>
                      <m:t>0</m:t>
                    </m:r>
                  </m:oMath>
                </a14:m>
                <a:r>
                  <a:rPr/>
                  <a:t>）：赋予阻尼过境速度，保留运动惯性，使深蹲精准下沉到达 0.488m；</a:t>
                </a:r>
              </a:p>
              <a:p>
                <a:pPr lvl="1"/>
                <a:r>
                  <a:rPr/>
                  <a:t>极值换向点（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Δ</m:t>
                    </m:r>
                    <m:sSub>
                      <m:e>
                        <m:r>
                          <m:t>q</m:t>
                        </m:r>
                      </m:e>
                      <m:sub>
                        <m:r>
                          <m:t>k</m:t>
                        </m:r>
                      </m:sub>
                    </m:sSub>
                    <m:r>
                      <m:rPr>
                        <m:sty m:val="p"/>
                      </m:rPr>
                      <m:t>⋅</m:t>
                    </m:r>
                    <m:r>
                      <m:rPr>
                        <m:sty m:val="p"/>
                      </m:rPr>
                      <m:t>Δ</m:t>
                    </m:r>
                    <m:sSub>
                      <m:e>
                        <m:r>
                          <m:t>q</m:t>
                        </m:r>
                      </m:e>
                      <m:sub>
                        <m:r>
                          <m:t>k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m:t>≤</m:t>
                    </m:r>
                    <m:r>
                      <m:t>0</m:t>
                    </m:r>
                  </m:oMath>
                </a14:m>
                <a:r>
                  <a:rPr/>
                  <a:t>）：过境速度强制置零，从数学上杜绝波峰波谷超调振荡。</a:t>
                </a:r>
              </a:p>
              <a:p>
                <a:pPr lvl="0"/>
                <a:r>
                  <a:rPr b="1"/>
                  <a:t>跃度（Jerk）硬截断</a:t>
                </a:r>
                <a:r>
                  <a:rPr/>
                  <a:t>：常规跟踪跃度上限控制在 1500 rad/s³ 之内，从源头消除了电机减速器的高频冲击。</a:t>
                </a:r>
              </a:p>
            </p:txBody>
          </p:sp>
        </mc:Choice>
      </mc:AlternateContent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物理闭环跟踪实测表现与多场景验证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严格的物理基线测试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 b="1"/>
              <a:t>环境设置</a:t>
            </a:r>
            <a:r>
              <a:rPr/>
              <a:t>：MuJoCo 1000Hz 全动力学物理仿真，注入 120ms 真实因果端到端延迟（无未来预瞄）。</a:t>
            </a:r>
          </a:p>
          <a:p>
            <a:pPr lvl="0"/>
            <a:r>
              <a:rPr b="1"/>
              <a:t>五类复杂自然动作序列表现</a:t>
            </a:r>
            <a:r>
              <a:rPr/>
              <a:t>：</a:t>
            </a:r>
          </a:p>
          <a:p>
            <a:pPr lvl="1"/>
            <a:r>
              <a:rPr b="1"/>
              <a:t>平衡成功率</a:t>
            </a:r>
            <a:r>
              <a:rPr/>
              <a:t>：5 组序列全部全程保持平衡并平稳停稳（100% 成功率）；</a:t>
            </a:r>
          </a:p>
          <a:p>
            <a:pPr lvl="1"/>
            <a:r>
              <a:rPr b="1"/>
              <a:t>方向与跃度</a:t>
            </a:r>
            <a:r>
              <a:rPr/>
              <a:t>：IK 平均方向偏差 2.85°，控制流 95 分位跃度均值 1314 rad/s³（上限 1500 rad/s³）；</a:t>
            </a:r>
          </a:p>
          <a:p>
            <a:pPr lvl="1"/>
            <a:r>
              <a:rPr b="1"/>
              <a:t>闭环跟踪精度</a:t>
            </a:r>
            <a:r>
              <a:rPr/>
              <a:t>：全身 29 关节平均 RMSE 19.32°，下肢 12 关节 RMSE 13.37°，三维关键点平均误差 65.1 mm。</a:t>
            </a:r>
          </a:p>
        </p:txBody>
      </p:sp>
      <p:pic>
        <p:nvPicPr>
          <p:cNvPr descr="figures/exec_fig2_keyframe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30300"/>
            <a:ext cx="5105400" cy="2540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现存局限、实机部署路线与下周规划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现存技术局限与明确攻关方案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 b="1"/>
                  <a:t>全局水平累积漂移 (0.612m)</a:t>
                </a:r>
                <a:r>
                  <a:rPr/>
                  <a:t>：足底微滑移时间积分所致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引入足底触地关键点锚定 + 低频全局位置闭环修正。</a:t>
                </a:r>
              </a:p>
              <a:p>
                <a:pPr lvl="0"/>
                <a:r>
                  <a:rPr b="1"/>
                  <a:t>高频急促起蹲相位滞后 (RMSE 21.08°)</a:t>
                </a:r>
                <a:r>
                  <a:rPr/>
                  <a:t>：低跃度上限压制高频动态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设计自适应动态跃度包络调度机制。</a:t>
                </a:r>
              </a:p>
              <a:p>
                <a:pPr lvl="0"/>
                <a:r>
                  <a:rPr b="1"/>
                  <a:t>前臂轴向翻转不可观测</a:t>
                </a:r>
                <a:r>
                  <a:rPr/>
                  <a:t>：缺少手掌关键点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扩展稠密手部关键点，根据手掌平面法向量求解前臂自旋。</a:t>
                </a:r>
              </a:p>
            </p:txBody>
          </p:sp>
        </mc:Choice>
      </mc:AlternateContent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宇树 G1 实机三阶段安全上机路线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-342900" marL="342900">
                  <a:buAutoNum type="arabicPeriod"/>
                </a:pPr>
                <a:r>
                  <a:rPr b="1"/>
                  <a:t>阶段一（悬空联调）</a:t>
                </a:r>
                <a:r>
                  <a:rPr/>
                  <a:t>：龙门架保护悬吊，29关节零位核对与增益分级标定（30%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60%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100%），实测全链路通信延迟。</a:t>
                </a:r>
              </a:p>
              <a:p>
                <a:pPr lvl="0" indent="-342900" marL="342900">
                  <a:buAutoNum type="arabicPeriod"/>
                </a:pPr>
                <a:r>
                  <a:rPr b="1"/>
                  <a:t>阶段二（原地自稳）</a:t>
                </a:r>
                <a:r>
                  <a:rPr/>
                  <a:t>：双足着地，测试转腰、大幅挥臂与深度起蹲，验证重心控制与防翻折。</a:t>
                </a:r>
              </a:p>
              <a:p>
                <a:pPr lvl="0" indent="-342900" marL="342900">
                  <a:buAutoNum type="arabicPeriod"/>
                </a:pPr>
                <a:r>
                  <a:rPr b="1"/>
                  <a:t>阶段三（行走模仿）</a:t>
                </a:r>
                <a:r>
                  <a:rPr/>
                  <a:t>：安全伴随绳保护下，从小步幅慢速行走渐进过渡到自然步速行走与转身模仿。</a:t>
                </a:r>
              </a:p>
            </p:txBody>
          </p:sp>
        </mc:Choice>
      </mc:AlternateContent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下周重点工作规划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SuperMimic 算法复现</a:t>
            </a:r>
            <a:r>
              <a:rPr/>
              <a:t>：保持前端感知与重定向链路不变，复现跟踪精度更优的 SuperMimic 控制器，并在相同序列与延迟下进行定量对比。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多视角无标记动作重定向与人形机器人全身控制</dc:title>
  <dc:creator>汇报人：谭为</dc:creator>
  <cp:keywords/>
  <dcterms:created xsi:type="dcterms:W3CDTF">2026-10-23T05:14:43Z</dcterms:created>
  <dcterms:modified xsi:type="dcterms:W3CDTF">2026-10-23T05:14:43Z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2026年10月</vt:lpwstr>
  </property>
</Properties>
</file>